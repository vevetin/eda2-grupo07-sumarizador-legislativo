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Open Sauce" charset="1" panose="00000500000000000000"/>
      <p:regular r:id="rId16"/>
    </p:embeddedFont>
    <p:embeddedFont>
      <p:font typeface="Open Sauce Bold" charset="1" panose="000008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005936"/>
            <a:ext cx="12768636" cy="2510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9600" spc="-57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Sumarização Extrativa de Debates Legislativos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698616" y="7016596"/>
            <a:ext cx="4560684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99"/>
              </a:lnSpc>
              <a:spcBef>
                <a:spcPct val="0"/>
              </a:spcBef>
            </a:pPr>
            <a:r>
              <a:rPr lang="en-US" b="true" sz="2599" spc="25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GRUPO 07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335372" y="7406640"/>
            <a:ext cx="6923928" cy="185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Cauã Araujo dos Santos</a:t>
            </a:r>
          </a:p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Enrico Martins Mantoan Zoratto</a:t>
            </a:r>
          </a:p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Maria Clara Sena de Lima</a:t>
            </a:r>
          </a:p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Paulo Lucca</a:t>
            </a:r>
          </a:p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Weverton Rodrigues da Costa Silva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066800"/>
            <a:ext cx="5911110" cy="50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99"/>
              </a:lnSpc>
            </a:pPr>
            <a:r>
              <a:rPr lang="en-US" b="true" sz="1999" spc="19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FGA0030 - </a:t>
            </a:r>
            <a:r>
              <a:rPr lang="en-US" b="true" sz="1999" spc="19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</a:t>
            </a:r>
            <a:r>
              <a:rPr lang="en-US" b="true" sz="1999" spc="19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STRUTURAS DE DADOS 2</a:t>
            </a:r>
          </a:p>
          <a:p>
            <a:pPr algn="just">
              <a:lnSpc>
                <a:spcPts val="199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678651"/>
            <a:ext cx="7198132" cy="1176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8799" spc="-527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Temática C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989777"/>
            <a:ext cx="81153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Descrição do Problema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4151791"/>
            <a:ext cx="3481661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799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ontextualização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929031"/>
            <a:ext cx="4310172" cy="2082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 s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obrecarga de informações nos longos registros oficiais e notas taquigráficas da Câmara dos Deputados.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88914" y="4151791"/>
            <a:ext cx="2746871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Problema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88914" y="4929031"/>
            <a:ext cx="4310172" cy="2501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 dificuldad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 em acompanhar e extrair rapidamente os discursos, argumentos centrais e decisões dessas sessões complexas.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949128" y="4151791"/>
            <a:ext cx="2746871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Objetivo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49128" y="4929031"/>
            <a:ext cx="4310172" cy="2082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Desenvolver um sistema de sum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arização extrativa para compilar automaticamente as declarações mais relevantes.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73165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747564" y="2290128"/>
            <a:ext cx="560682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Bloco 1 - Pré-processamento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747564" y="2869248"/>
            <a:ext cx="5606820" cy="143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40"/>
              </a:lnSpc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Normalização textual, remoção de stopwords e representação das sentenças por Bitsets.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580794" y="2290128"/>
            <a:ext cx="560682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Bloco 2 - Grafo de Similaridade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580794" y="2869248"/>
            <a:ext cx="5606820" cy="143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Const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rução de uma matriz de adjacência uti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iza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do o Índ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ic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de Jaccard entre sentenças.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747564" y="5453697"/>
            <a:ext cx="560682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Bloco 3 - Centralidade de Grau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747564" y="6032817"/>
            <a:ext cx="5606820" cy="143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aplicação de Centrali</a:t>
            </a:r>
            <a:r>
              <a:rPr lang="en-US" sz="24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dade de Grau Ponderada para mensurar a importância dos discursos.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80794" y="5453697"/>
            <a:ext cx="583980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Bloco 4 - Ranqueamento e Resumo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580794" y="6032817"/>
            <a:ext cx="5606820" cy="191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Ranqueamento via Fila de Prioridade Máxima, seleção Top-K, filtragem de redundâncias e ordenação cronológica.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1989777"/>
            <a:ext cx="3436408" cy="1245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Descrição da Solução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23950"/>
            <a:ext cx="8115300" cy="1245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Estruturas de Dados Implementadas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51528" y="3235819"/>
            <a:ext cx="391770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 Tabela de Dispersão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51528" y="3724381"/>
            <a:ext cx="6059690" cy="156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18" indent="-194309" lvl="1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Técnica: Hashing duplo + lápides para remoção</a:t>
            </a:r>
          </a:p>
          <a:p>
            <a:pPr algn="just" marL="388618" indent="-194309" lvl="1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Função: </a:t>
            </a:r>
            <a:r>
              <a:rPr lang="en-US" sz="17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Mapeia cada palavra a um idPalavra inteiro </a:t>
            </a:r>
          </a:p>
          <a:p>
            <a:pPr algn="l" marL="388618" indent="-194309" lvl="1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Dinâmica: </a:t>
            </a:r>
            <a:r>
              <a:rPr lang="en-US" sz="17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Redimensionamento automático quando fator de carga &gt; 70%</a:t>
            </a:r>
          </a:p>
          <a:p>
            <a:pPr algn="l" marL="0" indent="0" lvl="0">
              <a:lnSpc>
                <a:spcPts val="2519"/>
              </a:lnSpc>
              <a:spcBef>
                <a:spcPct val="0"/>
              </a:spcBef>
            </a:pPr>
          </a:p>
        </p:txBody>
      </p:sp>
      <p:sp>
        <p:nvSpPr>
          <p:cNvPr name="AutoShape 6" id="6"/>
          <p:cNvSpPr/>
          <p:nvPr/>
        </p:nvSpPr>
        <p:spPr>
          <a:xfrm>
            <a:off x="1028700" y="5715000"/>
            <a:ext cx="16230600" cy="0"/>
          </a:xfrm>
          <a:prstGeom prst="line">
            <a:avLst/>
          </a:prstGeom>
          <a:ln cap="flat" w="76200">
            <a:solidFill>
              <a:srgbClr val="8C7753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" id="7"/>
          <p:cNvSpPr/>
          <p:nvPr/>
        </p:nvSpPr>
        <p:spPr>
          <a:xfrm>
            <a:off x="1331126" y="3774335"/>
            <a:ext cx="0" cy="1940701"/>
          </a:xfrm>
          <a:prstGeom prst="line">
            <a:avLst/>
          </a:prstGeom>
          <a:ln cap="rnd" w="19050">
            <a:solidFill>
              <a:srgbClr val="8C7753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8825509" y="2610979"/>
            <a:ext cx="497884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Matriz de Adjacência Ponderada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82137" y="3245344"/>
            <a:ext cx="6887237" cy="2192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18" indent="-194309" lvl="1">
              <a:lnSpc>
                <a:spcPts val="2519"/>
              </a:lnSpc>
              <a:spcBef>
                <a:spcPct val="0"/>
              </a:spcBef>
              <a:buFont typeface="Arial"/>
              <a:buChar char="•"/>
            </a:pPr>
            <a:r>
              <a:rPr lang="en-US" sz="17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Técnica: Matriz </a:t>
            </a:r>
            <a:r>
              <a:rPr lang="en-US" sz="17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17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×</a:t>
            </a:r>
            <a:r>
              <a:rPr lang="en-US" sz="17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17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de floats, garantindo acesso </a:t>
            </a:r>
            <a:r>
              <a:rPr lang="en-US" sz="17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17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(1) à similaridade entre qualquer par de discursos</a:t>
            </a:r>
          </a:p>
          <a:p>
            <a:pPr algn="l" marL="388618" indent="-194309" lvl="1">
              <a:lnSpc>
                <a:spcPts val="2519"/>
              </a:lnSpc>
              <a:spcBef>
                <a:spcPct val="0"/>
              </a:spcBef>
              <a:buFont typeface="Arial"/>
              <a:buChar char="•"/>
            </a:pPr>
            <a:r>
              <a:rPr lang="en-US" sz="17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Função: Os vér</a:t>
            </a:r>
            <a:r>
              <a:rPr lang="en-US" sz="17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ti</a:t>
            </a:r>
            <a:r>
              <a:rPr lang="en-US" sz="17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ces</a:t>
            </a:r>
            <a:r>
              <a:rPr lang="en-US" sz="17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são os d</a:t>
            </a:r>
            <a:r>
              <a:rPr lang="en-US" sz="17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iscursos</a:t>
            </a:r>
            <a:r>
              <a:rPr lang="en-US" sz="17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válidos e as arestas representam a similaridade de </a:t>
            </a:r>
            <a:r>
              <a:rPr lang="en-US" sz="17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Jacc</a:t>
            </a:r>
            <a:r>
              <a:rPr lang="en-US" sz="17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ar</a:t>
            </a:r>
            <a:r>
              <a:rPr lang="en-US" sz="17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 entre eles</a:t>
            </a:r>
          </a:p>
          <a:p>
            <a:pPr algn="l" marL="388618" indent="-194309" lvl="1">
              <a:lnSpc>
                <a:spcPts val="2519"/>
              </a:lnSpc>
              <a:spcBef>
                <a:spcPct val="0"/>
              </a:spcBef>
              <a:buFont typeface="Arial"/>
              <a:buChar char="•"/>
            </a:pPr>
            <a:r>
              <a:rPr lang="en-US" sz="17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17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álculo: I</a:t>
            </a:r>
            <a:r>
              <a:rPr lang="en-US" sz="17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nfluência relacional é calculada </a:t>
            </a:r>
            <a:r>
              <a:rPr lang="en-US" sz="17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varrendo e </a:t>
            </a:r>
            <a:r>
              <a:rPr lang="en-US" sz="17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somando todos os pesos de cada linha da matriz.</a:t>
            </a:r>
          </a:p>
          <a:p>
            <a:pPr algn="l" marL="0" indent="0" lvl="0">
              <a:lnSpc>
                <a:spcPts val="2519"/>
              </a:lnSpc>
              <a:spcBef>
                <a:spcPct val="0"/>
              </a:spcBef>
            </a:pPr>
          </a:p>
        </p:txBody>
      </p:sp>
      <p:sp>
        <p:nvSpPr>
          <p:cNvPr name="AutoShape 10" id="10"/>
          <p:cNvSpPr/>
          <p:nvPr/>
        </p:nvSpPr>
        <p:spPr>
          <a:xfrm>
            <a:off x="3675421" y="5703712"/>
            <a:ext cx="0" cy="1940701"/>
          </a:xfrm>
          <a:prstGeom prst="line">
            <a:avLst/>
          </a:prstGeom>
          <a:ln cap="rnd" w="19050">
            <a:solidFill>
              <a:srgbClr val="8C7753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1" id="11"/>
          <p:cNvSpPr/>
          <p:nvPr/>
        </p:nvSpPr>
        <p:spPr>
          <a:xfrm>
            <a:off x="8196993" y="3774335"/>
            <a:ext cx="0" cy="1940701"/>
          </a:xfrm>
          <a:prstGeom prst="line">
            <a:avLst/>
          </a:prstGeom>
          <a:ln cap="rnd" w="19050">
            <a:solidFill>
              <a:srgbClr val="8C7753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0964438" y="5703712"/>
            <a:ext cx="0" cy="1940701"/>
          </a:xfrm>
          <a:prstGeom prst="line">
            <a:avLst/>
          </a:prstGeom>
          <a:ln cap="rnd" w="19050">
            <a:solidFill>
              <a:srgbClr val="8C7753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13" id="13"/>
          <p:cNvSpPr txBox="true"/>
          <p:nvPr/>
        </p:nvSpPr>
        <p:spPr>
          <a:xfrm rot="0">
            <a:off x="4067809" y="6715125"/>
            <a:ext cx="559006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Bitsets (Representação Vetorial)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63932" y="7349490"/>
            <a:ext cx="6437805" cy="2192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18" indent="-194309" lvl="1">
              <a:lnSpc>
                <a:spcPts val="2519"/>
              </a:lnSpc>
              <a:spcBef>
                <a:spcPct val="0"/>
              </a:spcBef>
              <a:buFont typeface="Arial"/>
              <a:buChar char="•"/>
            </a:pPr>
            <a:r>
              <a:rPr lang="en-US" sz="17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Técnica: Uso de inteiros gigantes nativos do Python, onde o bit i aceso indica a presença da palav</a:t>
            </a:r>
            <a:r>
              <a:rPr lang="en-US" sz="17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ra i</a:t>
            </a:r>
          </a:p>
          <a:p>
            <a:pPr algn="l" marL="388618" indent="-194309" lvl="1">
              <a:lnSpc>
                <a:spcPts val="2519"/>
              </a:lnSpc>
              <a:spcBef>
                <a:spcPct val="0"/>
              </a:spcBef>
              <a:buFont typeface="Arial"/>
              <a:buChar char="•"/>
            </a:pPr>
            <a:r>
              <a:rPr lang="en-US" sz="17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Função: P</a:t>
            </a:r>
            <a:r>
              <a:rPr lang="en-US" sz="17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ermite </a:t>
            </a:r>
            <a:r>
              <a:rPr lang="en-US" sz="17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operações de </a:t>
            </a:r>
            <a:r>
              <a:rPr lang="en-US" sz="17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interseção (</a:t>
            </a:r>
            <a:r>
              <a:rPr lang="en-US" sz="17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AND </a:t>
            </a:r>
            <a:r>
              <a:rPr lang="en-US" sz="17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&amp;) e união (</a:t>
            </a:r>
            <a:r>
              <a:rPr lang="en-US" sz="17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OR </a:t>
            </a:r>
            <a:r>
              <a:rPr lang="en-US" sz="17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|) em tempo constante.</a:t>
            </a:r>
          </a:p>
          <a:p>
            <a:pPr algn="l" marL="388618" indent="-194309" lvl="1">
              <a:lnSpc>
                <a:spcPts val="2519"/>
              </a:lnSpc>
              <a:spcBef>
                <a:spcPct val="0"/>
              </a:spcBef>
              <a:buFont typeface="Arial"/>
              <a:buChar char="•"/>
            </a:pPr>
            <a:r>
              <a:rPr lang="en-US" sz="17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Uso: </a:t>
            </a:r>
            <a:r>
              <a:rPr lang="en-US" sz="17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Ba</a:t>
            </a:r>
            <a:r>
              <a:rPr lang="en-US" sz="17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se</a:t>
            </a:r>
            <a:r>
              <a:rPr lang="en-US" sz="17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pa</a:t>
            </a:r>
            <a:r>
              <a:rPr lang="en-US" sz="17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17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 o</a:t>
            </a:r>
            <a:r>
              <a:rPr lang="en-US" sz="17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7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cálcu</a:t>
            </a:r>
            <a:r>
              <a:rPr lang="en-US" sz="17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lo d</a:t>
            </a:r>
            <a:r>
              <a:rPr lang="en-US" sz="17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17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Jaccar</a:t>
            </a:r>
            <a:r>
              <a:rPr lang="en-US" sz="17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 </a:t>
            </a:r>
            <a:r>
              <a:rPr lang="en-US" sz="17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 o f</a:t>
            </a:r>
            <a:r>
              <a:rPr lang="en-US" sz="17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iltro </a:t>
            </a:r>
            <a:r>
              <a:rPr lang="en-US" sz="17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17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17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ti-redundância</a:t>
            </a:r>
          </a:p>
          <a:p>
            <a:pPr algn="l" marL="0" indent="0" lvl="0">
              <a:lnSpc>
                <a:spcPts val="2519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1314931" y="6715125"/>
            <a:ext cx="435443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Fila de Prioridade Máxima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314931" y="7082790"/>
            <a:ext cx="5519328" cy="2821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2" indent="-194311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Técnica: Implementação vetorial (Array) do Heap, com custo de </a:t>
            </a:r>
            <a:r>
              <a:rPr lang="en-US" sz="18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18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(lo</a:t>
            </a:r>
            <a:r>
              <a:rPr lang="en-US" sz="18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g</a:t>
            </a:r>
            <a:r>
              <a:rPr lang="en-US" sz="18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n) para a extr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ação do máximo (desce no heap)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  <a:p>
            <a:pPr algn="l" marL="388622" indent="-194311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Função: Atua como o motor de ranqueamento, extraindo apenas o "Top-K" discursos sem precisar ordenar todo o documento</a:t>
            </a:r>
          </a:p>
          <a:p>
            <a:pPr algn="l" marL="388622" indent="-194311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Critério: Prioriza o maior 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score de 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relev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â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ncia. Em caso de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empate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,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uti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iza 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 menor indiceOriginal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para manter a lógica do debate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62893" y="2307278"/>
            <a:ext cx="362214" cy="36221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203200" y="28575"/>
              <a:ext cx="406400" cy="682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104903"/>
            <a:ext cx="15326337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Fluxo de dados entre as estruturas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881318" y="1960230"/>
            <a:ext cx="525363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PDF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93564" y="2799369"/>
            <a:ext cx="1900872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TEXTO BRUTO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962893" y="3146417"/>
            <a:ext cx="362214" cy="36221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203200" y="28575"/>
              <a:ext cx="406400" cy="682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342858" y="3638509"/>
            <a:ext cx="1602284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DISCURSOS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962893" y="3985557"/>
            <a:ext cx="362214" cy="36221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203200" y="28575"/>
              <a:ext cx="406400" cy="682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997575" y="4477649"/>
            <a:ext cx="6292850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TABELA HASH (TOKENIZAÇÃO / VOCABULÁRIO)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962893" y="4824697"/>
            <a:ext cx="362214" cy="36221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203200" y="28575"/>
              <a:ext cx="406400" cy="682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5895181" y="6155928"/>
            <a:ext cx="6497638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MATRIZ DE ADJACÊNCIA (CÁLCULO DE JACCARD)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962893" y="6502977"/>
            <a:ext cx="362214" cy="362214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203200" y="28575"/>
              <a:ext cx="406400" cy="682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5737066" y="6995068"/>
            <a:ext cx="6813868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RELEVÂNCIA POR LINHA (CENTRALIDADE DE GRAU)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962893" y="7342116"/>
            <a:ext cx="362214" cy="362214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203200" y="28575"/>
              <a:ext cx="406400" cy="682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5399405" y="7834208"/>
            <a:ext cx="7489190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FILA DE PRIORIDADE MÁXIMA (RANQUEAMENTO TOP-K) 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8962893" y="8181256"/>
            <a:ext cx="362214" cy="362214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203200" y="28575"/>
              <a:ext cx="406400" cy="682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7756446" y="9512488"/>
            <a:ext cx="2775109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RESUMO (PDF/JSON)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113383" y="5316789"/>
            <a:ext cx="6061234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BITSETS (REPRESENTAÇÃO DOS DISCURSOS)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8962893" y="5663837"/>
            <a:ext cx="362214" cy="362214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203200" y="28575"/>
              <a:ext cx="406400" cy="682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962893" y="9020396"/>
            <a:ext cx="362214" cy="362214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203200" y="28575"/>
              <a:ext cx="406400" cy="682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4852353" y="8673348"/>
            <a:ext cx="8583295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FILTRO BITSET ⟶ QUICK SORT (REORDENAÇÃO CRONOLÓGICA)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0"/>
            <a:ext cx="9144000" cy="10287000"/>
          </a:xfrm>
          <a:custGeom>
            <a:avLst/>
            <a:gdLst/>
            <a:ahLst/>
            <a:cxnLst/>
            <a:rect r="r" b="b" t="t" l="l"/>
            <a:pathLst>
              <a:path h="10287000" w="9144000">
                <a:moveTo>
                  <a:pt x="0" y="0"/>
                </a:moveTo>
                <a:lnTo>
                  <a:pt x="9144000" y="0"/>
                </a:lnTo>
                <a:lnTo>
                  <a:pt x="9144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936" r="0" b="-130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23950"/>
            <a:ext cx="81153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Exemplo de Entrada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3013818"/>
            <a:ext cx="7342398" cy="1782128"/>
            <a:chOff x="0" y="0"/>
            <a:chExt cx="9789864" cy="2376171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47625"/>
              <a:ext cx="4514082" cy="591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8C7753"/>
                  </a:solidFill>
                  <a:latin typeface="Open Sauce"/>
                  <a:ea typeface="Open Sauce"/>
                  <a:cs typeface="Open Sauce"/>
                  <a:sym typeface="Open Sauce"/>
                </a:rPr>
                <a:t>Base de Dados Real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733425"/>
              <a:ext cx="9789864" cy="164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359"/>
                </a:lnSpc>
                <a:spcBef>
                  <a:spcPct val="0"/>
                </a:spcBef>
              </a:pPr>
              <a:r>
                <a:rPr lang="en-US" sz="2399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U</a:t>
              </a:r>
              <a:r>
                <a:rPr lang="en-US" sz="2399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tilização de uma nota taquigráfica oficial da Câmara dos Deputados como documento de entrada.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6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5454545"/>
            <a:ext cx="7342398" cy="1363028"/>
            <a:chOff x="0" y="0"/>
            <a:chExt cx="9789864" cy="1817371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47625"/>
              <a:ext cx="6091174" cy="591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8C7753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Escala do Problema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733425"/>
              <a:ext cx="9789864" cy="1083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359"/>
                </a:lnSpc>
                <a:spcBef>
                  <a:spcPct val="0"/>
                </a:spcBef>
              </a:pPr>
              <a:r>
                <a:rPr lang="en-US" sz="2399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Pr</a:t>
              </a:r>
              <a:r>
                <a:rPr lang="en-US" sz="2399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ocessamento de 2.317 sentenças em um único documento.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7476172"/>
            <a:ext cx="7342398" cy="1782128"/>
            <a:chOff x="0" y="0"/>
            <a:chExt cx="9789864" cy="2376171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47625"/>
              <a:ext cx="5410200" cy="591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8C7753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Preparação dos Dados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733425"/>
              <a:ext cx="9789864" cy="164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359"/>
                </a:lnSpc>
                <a:spcBef>
                  <a:spcPct val="0"/>
                </a:spcBef>
              </a:pPr>
              <a:r>
                <a:rPr lang="en-US" sz="2399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Li</a:t>
              </a:r>
              <a:r>
                <a:rPr lang="en-US" sz="2399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mpeza textual e tokenização eficiente via Tabela Hash, fornecendo a base para a construção do grafo.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10287000"/>
          </a:xfrm>
          <a:custGeom>
            <a:avLst/>
            <a:gdLst/>
            <a:ahLst/>
            <a:cxnLst/>
            <a:rect r="r" b="b" t="t" l="l"/>
            <a:pathLst>
              <a:path h="10287000" w="9144000">
                <a:moveTo>
                  <a:pt x="0" y="0"/>
                </a:moveTo>
                <a:lnTo>
                  <a:pt x="9144000" y="0"/>
                </a:lnTo>
                <a:lnTo>
                  <a:pt x="9144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484" r="0" b="-2251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912749" y="1123950"/>
            <a:ext cx="7342398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Exemplo de Saída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7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912749" y="2968183"/>
            <a:ext cx="7342398" cy="1366996"/>
            <a:chOff x="0" y="0"/>
            <a:chExt cx="9789864" cy="182266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47625"/>
              <a:ext cx="9412626" cy="591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8C7753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Extração Otimizada (Seleção Top-K)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738716"/>
              <a:ext cx="9789864" cy="1083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399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Cond</a:t>
              </a:r>
              <a:r>
                <a:rPr lang="en-US" sz="2399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ensação de 2.317 sentenças em até 60 sentenças representativas.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912749" y="4935301"/>
            <a:ext cx="7342398" cy="1363028"/>
            <a:chOff x="0" y="0"/>
            <a:chExt cx="9789864" cy="1817371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47625"/>
              <a:ext cx="7692162" cy="591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8C7753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Preservação da Autoria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733425"/>
              <a:ext cx="9789864" cy="1083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399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</a:t>
              </a:r>
              <a:r>
                <a:rPr lang="en-US" sz="2399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reservação da autoria e da integridade das informações extraídas.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912749" y="6898451"/>
            <a:ext cx="7342398" cy="1782128"/>
            <a:chOff x="0" y="0"/>
            <a:chExt cx="9789864" cy="2376171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47625"/>
              <a:ext cx="9484312" cy="591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8C7753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Reconstrução Cronológica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733425"/>
              <a:ext cx="9789864" cy="164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399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</a:t>
              </a:r>
              <a:r>
                <a:rPr lang="en-US" sz="2399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ordenação das sentenças pelo índice original e eliminação de redundâncias, produzindo um resumo coeso e cronologicamente consistente.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8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4047968"/>
            <a:ext cx="4967814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Reduçã</a:t>
            </a:r>
            <a:r>
              <a:rPr lang="en-US" b="true" sz="2799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 de </a:t>
            </a:r>
            <a:r>
              <a:rPr lang="en-US" b="true" sz="2799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</a:t>
            </a:r>
            <a:r>
              <a:rPr lang="en-US" b="true" sz="2799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onte</a:t>
            </a:r>
            <a:r>
              <a:rPr lang="en-US" b="true" sz="2799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údo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646138"/>
            <a:ext cx="6484974" cy="2582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59"/>
              </a:lnSpc>
              <a:spcBef>
                <a:spcPct val="0"/>
              </a:spcBef>
            </a:pPr>
            <a:r>
              <a:rPr lang="en-US" sz="2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s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is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em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ap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es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to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ma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alta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capac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idad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d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om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pr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ssão,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r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uzin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do 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men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os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dens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(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x: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2.317 fr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ses)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ra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um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núc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leo r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íg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 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 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60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f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es 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(c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rca 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8%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do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ocu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nto váli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o)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989777"/>
            <a:ext cx="81153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Análise dos Resultados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81645" y="4047968"/>
            <a:ext cx="5834958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 F</a:t>
            </a:r>
            <a:r>
              <a:rPr lang="en-US" b="true" sz="2799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orça da C</a:t>
            </a:r>
            <a:r>
              <a:rPr lang="en-US" b="true" sz="2799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</a:t>
            </a:r>
            <a:r>
              <a:rPr lang="en-US" b="true" sz="2799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ntralidade d</a:t>
            </a:r>
            <a:r>
              <a:rPr lang="en-US" b="true" sz="2799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 Grau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81645" y="4646138"/>
            <a:ext cx="6449131" cy="363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59"/>
              </a:lnSpc>
              <a:spcBef>
                <a:spcPct val="0"/>
              </a:spcBef>
            </a:pPr>
            <a:r>
              <a:rPr lang="en-US" sz="2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As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frases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s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lecion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ada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 re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presentam o verdadeiro "centro" 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do deb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at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e. Ao som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a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 simil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idade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de Jac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ca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 (Matriz d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 Adjacência), o algori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tm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 filtrou comentários isolados e r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esg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atou os ar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g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um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entos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que mais "d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ial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ogam" com a pauta pr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in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ip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d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sessão.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9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4047968"/>
            <a:ext cx="7548511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Diversidade</a:t>
            </a:r>
            <a:r>
              <a:rPr lang="en-US" b="true" sz="2799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de Argumentos (Filtro Bitset)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646138"/>
            <a:ext cx="7309363" cy="363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59"/>
              </a:lnSpc>
              <a:spcBef>
                <a:spcPct val="0"/>
              </a:spcBef>
            </a:pPr>
            <a:r>
              <a:rPr lang="en-US" sz="2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Obser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v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amos qu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 a extração pura da Fila de Prioridade Máxima tenderia a repetir o mesmo argumento várias vezes. O "Bitset do Resumo" (com teto de 70% de similaridade) corrigiu esse padrão, barrando a redundância e garantindo um resumo rico em diferentes pontos de vista.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989777"/>
            <a:ext cx="81153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Análise dos Resultados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81645" y="4047968"/>
            <a:ext cx="6449131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Rec</a:t>
            </a:r>
            <a:r>
              <a:rPr lang="en-US" b="true" sz="2799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onstrução do Padr</a:t>
            </a:r>
            <a:r>
              <a:rPr lang="en-US" b="true" sz="2799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ão Disc</a:t>
            </a:r>
            <a:r>
              <a:rPr lang="en-US" b="true" sz="2799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</a:t>
            </a:r>
            <a:r>
              <a:rPr lang="en-US" b="true" sz="2799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rsivo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81645" y="4646138"/>
            <a:ext cx="6449131" cy="363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59"/>
              </a:lnSpc>
              <a:spcBef>
                <a:spcPct val="0"/>
              </a:spcBef>
            </a:pPr>
            <a:r>
              <a:rPr lang="en-US" sz="2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apl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açã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do Quick 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So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 u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sando o indiceOriginal fo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vital. S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 ele, 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te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ríam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rases s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as por ordem d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r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el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evância. Com ele, reest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abe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lecemos o padrão natural de "Pergunt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 e Respostas" típico do a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mbiente</a:t>
            </a:r>
            <a:r>
              <a:rPr lang="en-US" sz="2599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legislativo.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989777"/>
            <a:ext cx="10409253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Uso de Modelos de Linguagem (LLMs)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24598" y="3821592"/>
            <a:ext cx="6872627" cy="198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Apoio</a:t>
            </a:r>
            <a:r>
              <a:rPr lang="en-US" b="true" sz="2299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à Pesquisa e Validação Conceitual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Utilização de LLMs para consulta de conceitos, discussão de alternativas e validação preliminar de estruturas de dados e algoritmos.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10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725660" y="3093247"/>
            <a:ext cx="287050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91836" y="3093247"/>
            <a:ext cx="287050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90775" y="3821592"/>
            <a:ext cx="6872627" cy="198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Eng</a:t>
            </a:r>
            <a:r>
              <a:rPr lang="en-US" b="true" sz="2299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enharia de Prompts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Desenvo</a:t>
            </a:r>
            <a:r>
              <a:rPr lang="en-US" sz="22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lvimento e refinamento sistemático de prompts para obtenção de respostas mais precisas e consistentes.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724598" y="6948339"/>
            <a:ext cx="6872627" cy="198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Suporte ao</a:t>
            </a:r>
            <a:r>
              <a:rPr lang="en-US" b="true" sz="2299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Desenvolvimento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Auxí</a:t>
            </a:r>
            <a:r>
              <a:rPr lang="en-US" sz="22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lio na revisão de código, identificação de melhorias e esclarecimento de dúvidas técnicas durante a implementação.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725660" y="6218181"/>
            <a:ext cx="287050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691836" y="6218181"/>
            <a:ext cx="287050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90775" y="6948339"/>
            <a:ext cx="6872627" cy="198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Documentação</a:t>
            </a:r>
            <a:r>
              <a:rPr lang="en-US" b="true" sz="2299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e Gestão do Projeto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Apo</a:t>
            </a:r>
            <a:r>
              <a:rPr lang="en-US" sz="22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io à organização da documentação técnica, registro de decisões arquiteturais e acompanhamento da evolução do projeto.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DAHNHTyeMRA</dc:identifier>
  <dcterms:modified xsi:type="dcterms:W3CDTF">2011-08-01T06:04:30Z</dcterms:modified>
  <cp:revision>1</cp:revision>
  <dc:title>Grupo07_Sumarizacao_Extrativa</dc:title>
</cp:coreProperties>
</file>